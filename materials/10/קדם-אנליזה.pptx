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305" r:id="rId56"/>
    <p:sldId id="261" r:id="rId12"/>
    <p:sldId id="262" r:id="rId13"/>
    <p:sldId id="263" r:id="rId14"/>
    <p:sldId id="306" r:id="rId57"/>
    <p:sldId id="264" r:id="rId15"/>
    <p:sldId id="265" r:id="rId16"/>
    <p:sldId id="307" r:id="rId58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308" r:id="rId59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309" r:id="rId60"/>
    <p:sldId id="292" r:id="rId43"/>
    <p:sldId id="293" r:id="rId44"/>
    <p:sldId id="294" r:id="rId45"/>
    <p:sldId id="310" r:id="rId61"/>
    <p:sldId id="295" r:id="rId46"/>
    <p:sldId id="311" r:id="rId62"/>
    <p:sldId id="296" r:id="rId47"/>
    <p:sldId id="312" r:id="rId63"/>
    <p:sldId id="297" r:id="rId48"/>
    <p:sldId id="298" r:id="rId49"/>
    <p:sldId id="299" r:id="rId50"/>
    <p:sldId id="300" r:id="rId51"/>
    <p:sldId id="301" r:id="rId52"/>
    <p:sldId id="313" r:id="rId64"/>
    <p:sldId id="302" r:id="rId53"/>
    <p:sldId id="303" r:id="rId54"/>
    <p:sldId id="304" r:id="rId5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4"/><Relationship Id="rId3" Type="http://schemas.openxmlformats.org/officeDocument/2006/relationships/video" Target="../media/media2.mp4"/><Relationship Id="rId4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3.mp4"/><Relationship Id="rId3" Type="http://schemas.openxmlformats.org/officeDocument/2006/relationships/video" Target="../media/media3.mp4"/><Relationship Id="rId4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4.mp4"/><Relationship Id="rId3" Type="http://schemas.openxmlformats.org/officeDocument/2006/relationships/video" Target="../media/media4.mp4"/><Relationship Id="rId4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5.mp4"/><Relationship Id="rId3" Type="http://schemas.openxmlformats.org/officeDocument/2006/relationships/video" Target="../media/media5.mp4"/><Relationship Id="rId4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6.mp4"/><Relationship Id="rId3" Type="http://schemas.openxmlformats.org/officeDocument/2006/relationships/video" Target="../media/media6.mp4"/><Relationship Id="rId4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7.mp4"/><Relationship Id="rId3" Type="http://schemas.openxmlformats.org/officeDocument/2006/relationships/video" Target="../media/media7.mp4"/><Relationship Id="rId4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8.mp4"/><Relationship Id="rId3" Type="http://schemas.openxmlformats.org/officeDocument/2006/relationships/video" Target="../media/media8.mp4"/><Relationship Id="rId4" Type="http://schemas.openxmlformats.org/officeDocument/2006/relationships/image" Target="../media/image57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9.mp4"/><Relationship Id="rId3" Type="http://schemas.openxmlformats.org/officeDocument/2006/relationships/video" Target="../media/media9.mp4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 1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מה קורה לגרף כשמגדילים את ‪n‬?</a:t>
            </a:r>
          </a:p>
        </p:txBody>
      </p:sp>
      <p:pic>
        <p:nvPicPr>
          <p:cNvPr id="4" name="PowerFamilie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כל תלמידה "משרטטת באוויר" עם היד את ‪y = x⁵‬. צורת ‪U‬ או צורת נחש? אחר כך בודקות בסרטון.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 1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פונקציה זוגית: מקפלים סביב ציר ‪y‬</a:t>
            </a:r>
          </a:p>
        </p:txBody>
      </p:sp>
      <p:pic>
        <p:nvPicPr>
          <p:cNvPr id="4" name="EvenSymmetr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אם ‪f(1.8) = 3.24‬, כמה יהיה ‪f(−1.8)‬? כתבו תשובה על הדף, ואז בדקו.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 1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פונקציה אי-זוגית: מסובבים סביב הראשית</a:t>
            </a:r>
          </a:p>
        </p:txBody>
      </p:sp>
      <p:pic>
        <p:nvPicPr>
          <p:cNvPr id="4" name="OddSymmetry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אם ‪f(1.5) = 3.38‬, כמה יהיה ‪f(−1.5)‬? כתבו תשובה על הדף, ואז בדקו.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שיעורים 4–6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סקיצה של פולינום, צעד אחר צעד</a:t>
            </a:r>
          </a:p>
        </p:txBody>
      </p:sp>
      <p:pic>
        <p:nvPicPr>
          <p:cNvPr id="4" name="PolynomialSign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באיזה מהאפסים ‪−2, 1, 3‬ הגרף רק נוגע בציר ‪x‬ ולא חוצה אותו? הצביעו, ואז בדקו.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שיעורים 7–8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איפה הכחול מעל הכתום?</a:t>
            </a:r>
          </a:p>
        </p:txBody>
      </p:sp>
      <p:pic>
        <p:nvPicPr>
          <p:cNvPr id="4" name="InequalityGraph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הצביעו על שני תחומים שבהם ‪x³ &gt; 4x‬. עקבו אחרי הקו הירוק: מתי הוא מופיע?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שיעורים 9–12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הזזות בתנועה: ‪y = (x − h)² + k‬</a:t>
            </a:r>
          </a:p>
        </p:txBody>
      </p:sp>
      <p:pic>
        <p:nvPicPr>
          <p:cNvPr id="4" name="Shift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הגרף של ‪(x − 2)²‬ זז ימינה או שמאלה? כל אחת מצביעה לכיוון, ואז בודקות.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שיעורים 9–12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מתיחה, כיווץ ושיקוף: ‪y = a·x²‬</a:t>
            </a:r>
          </a:p>
        </p:txBody>
      </p:sp>
      <p:pic>
        <p:nvPicPr>
          <p:cNvPr id="4" name="StretchCompres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לאן תעבור הנקודה ‪(1, 1)‬ בגרף של ‪y = 3x²‬? ומה יקרה כש-‪a‬ שלילי?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שיעורים 9–12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שני שיקופים של אותו גרף</a:t>
            </a:r>
          </a:p>
        </p:txBody>
      </p:sp>
      <p:pic>
        <p:nvPicPr>
          <p:cNvPr id="4" name="Reflections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הקודקוד של ‪f‬ הוא ‪(1, −1)‬. נחשו איפה יהיה הקודקוד של ‪−f(x)‬ ושל ‪f(−x)‬.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720" cy="41148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1600" b="1" lang="he-IL">
                <a:solidFill>
                  <a:srgbClr val="C25E12"/>
                </a:solidFill>
                <a:latin typeface="Arial"/>
                <a:cs typeface="Arial"/>
              </a:rPr>
              <a:t>שיעורים 13–14 · אנימציה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1792"/>
            <a:ext cx="11094720" cy="685800"/>
          </a:xfrm>
          <a:prstGeom prst="rect">
            <a:avLst/>
          </a:prstGeom>
          <a:noFill/>
        </p:spPr>
        <p:txBody>
          <a:bodyPr wrap="square" anchor="t" lIns="137160" rIns="137160">
            <a:spAutoFit/>
          </a:bodyPr>
          <a:lstStyle/>
          <a:p>
            <a:pPr algn="r" rtl="1"/>
            <a:r>
              <a:rPr sz="3400" b="1" lang="he-IL">
                <a:solidFill>
                  <a:srgbClr val="1F2A44"/>
                </a:solidFill>
                <a:latin typeface="Arial"/>
                <a:cs typeface="Arial"/>
              </a:rPr>
              <a:t>ערך מוחלט: מה שמתחת לציר עולה למעלה</a:t>
            </a:r>
          </a:p>
        </p:txBody>
      </p:sp>
      <p:pic>
        <p:nvPicPr>
          <p:cNvPr id="4" name="AbsoluteValu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97760" y="1371600"/>
            <a:ext cx="7396480" cy="4160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5669280"/>
            <a:ext cx="11094720" cy="914400"/>
          </a:xfrm>
          <a:prstGeom prst="roundRect">
            <a:avLst>
              <a:gd name="adj" fmla="val 12000"/>
            </a:avLst>
          </a:prstGeom>
          <a:solidFill>
            <a:srgbClr val="FBE6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r" rtl="1"/>
            <a:r>
              <a:rPr sz="2200" b="0" lang="he-IL">
                <a:solidFill>
                  <a:srgbClr val="1F2A44"/>
                </a:solidFill>
                <a:latin typeface="Arial"/>
                <a:cs typeface="Arial"/>
              </a:rPr>
              <a:t>לפני שמפעילים: לאן תעבור הנקודה ‪(0, −4)‬ בגרף של ‪y = |x² − 4|‬? ואילו נקודות לא יזוזו?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